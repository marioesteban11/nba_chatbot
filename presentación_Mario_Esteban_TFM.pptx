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8" r:id="rId3"/>
    <p:sldId id="259" r:id="rId4"/>
    <p:sldId id="260" r:id="rId5"/>
    <p:sldId id="261" r:id="rId6"/>
    <p:sldId id="262" r:id="rId7"/>
    <p:sldId id="263" r:id="rId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2518" autoAdjust="0"/>
  </p:normalViewPr>
  <p:slideViewPr>
    <p:cSldViewPr snapToGrid="0">
      <p:cViewPr varScale="1">
        <p:scale>
          <a:sx n="80" d="100"/>
          <a:sy n="80" d="100"/>
        </p:scale>
        <p:origin x="179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081B7D-1181-4079-B8C1-BC08AF0D4073}" type="datetimeFigureOut">
              <a:rPr lang="es-ES" smtClean="0"/>
              <a:t>17/02/2026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ECACCD-5843-4A15-8306-CB5B0E7D4DE7}" type="slidenum">
              <a:rPr lang="es-ES" smtClean="0"/>
              <a:t>‹Nº›</a:t>
            </a:fld>
            <a:endParaRPr lang="es-ES"/>
          </a:p>
        </p:txBody>
      </p:sp>
    </p:spTree>
    <p:extLst>
      <p:ext uri="{BB962C8B-B14F-4D97-AF65-F5344CB8AC3E}">
        <p14:creationId xmlns:p14="http://schemas.microsoft.com/office/powerpoint/2010/main" val="3086674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i="1" dirty="0"/>
              <a:t>"Hola, soy Mario Esteban, y hoy voy a presentar mi Trabajo de Fin de Máster:</a:t>
            </a:r>
            <a:br>
              <a:rPr lang="es-ES" i="1" dirty="0"/>
            </a:br>
            <a:r>
              <a:rPr lang="es-ES" b="1" i="1" dirty="0"/>
              <a:t>Análisis del rendimiento NBA y desarrollo de un </a:t>
            </a:r>
            <a:r>
              <a:rPr lang="es-ES" b="1" i="1" dirty="0" err="1"/>
              <a:t>chatbot</a:t>
            </a:r>
            <a:r>
              <a:rPr lang="es-ES" b="1" i="1" dirty="0"/>
              <a:t> analítico con inteligencia artificial.</a:t>
            </a:r>
            <a:endParaRPr lang="es-ES" dirty="0"/>
          </a:p>
          <a:p>
            <a:r>
              <a:rPr lang="es-ES" dirty="0"/>
              <a:t>Este proyecto combina estadística avanzada, modelos de machine </a:t>
            </a:r>
            <a:r>
              <a:rPr lang="es-ES" dirty="0" err="1"/>
              <a:t>learning</a:t>
            </a:r>
            <a:r>
              <a:rPr lang="es-ES" dirty="0"/>
              <a:t> y un </a:t>
            </a:r>
            <a:r>
              <a:rPr lang="es-ES" dirty="0" err="1"/>
              <a:t>chatbot</a:t>
            </a:r>
            <a:r>
              <a:rPr lang="es-ES" dirty="0"/>
              <a:t> capaz de interactuar con todo ese conocimiento, generando análisis deportivos en tiempo real."</a:t>
            </a:r>
          </a:p>
          <a:p>
            <a:endParaRPr lang="es-ES" dirty="0"/>
          </a:p>
        </p:txBody>
      </p:sp>
      <p:sp>
        <p:nvSpPr>
          <p:cNvPr id="4" name="Marcador de número de diapositiva 3"/>
          <p:cNvSpPr>
            <a:spLocks noGrp="1"/>
          </p:cNvSpPr>
          <p:nvPr>
            <p:ph type="sldNum" sz="quarter" idx="5"/>
          </p:nvPr>
        </p:nvSpPr>
        <p:spPr/>
        <p:txBody>
          <a:bodyPr/>
          <a:lstStyle/>
          <a:p>
            <a:fld id="{03ECACCD-5843-4A15-8306-CB5B0E7D4DE7}" type="slidenum">
              <a:rPr lang="es-ES" smtClean="0"/>
              <a:t>1</a:t>
            </a:fld>
            <a:endParaRPr lang="es-ES"/>
          </a:p>
        </p:txBody>
      </p:sp>
    </p:spTree>
    <p:extLst>
      <p:ext uri="{BB962C8B-B14F-4D97-AF65-F5344CB8AC3E}">
        <p14:creationId xmlns:p14="http://schemas.microsoft.com/office/powerpoint/2010/main" val="3179001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"El trabajo parte de un </a:t>
            </a:r>
            <a:r>
              <a:rPr lang="es-ES" dirty="0" err="1"/>
              <a:t>dataset</a:t>
            </a:r>
            <a:r>
              <a:rPr lang="es-ES" dirty="0"/>
              <a:t> con más </a:t>
            </a:r>
            <a:r>
              <a:rPr lang="es-ES"/>
              <a:t>de 15.000 </a:t>
            </a:r>
            <a:r>
              <a:rPr lang="es-ES" dirty="0"/>
              <a:t>registros de jugadores NBA desde los años 80 hasta la 2021.</a:t>
            </a:r>
          </a:p>
          <a:p>
            <a:r>
              <a:rPr lang="es-ES" dirty="0"/>
              <a:t>Incluye estadísticas de anotación, asistencias, minutos jugados, porcentaje de victorias, porcentajes de tiro, etc.</a:t>
            </a:r>
          </a:p>
          <a:p>
            <a:br>
              <a:rPr lang="es-ES" dirty="0"/>
            </a:br>
            <a:r>
              <a:rPr lang="es-ES" dirty="0"/>
              <a:t>Ya que es un </a:t>
            </a:r>
            <a:r>
              <a:rPr lang="es-ES" dirty="0" err="1"/>
              <a:t>dataset</a:t>
            </a:r>
            <a:r>
              <a:rPr lang="es-ES" dirty="0"/>
              <a:t> externo, realicé un proceso completo de limpieza, estandarización y selección de variables para que el análisis del mismo fuese mucho más sencillo</a:t>
            </a:r>
          </a:p>
          <a:p>
            <a:endParaRPr lang="es-ES" dirty="0"/>
          </a:p>
          <a:p>
            <a:r>
              <a:rPr lang="es-ES" dirty="0"/>
              <a:t>Este </a:t>
            </a:r>
            <a:r>
              <a:rPr lang="es-ES" dirty="0" err="1"/>
              <a:t>dataset</a:t>
            </a:r>
            <a:r>
              <a:rPr lang="es-ES" dirty="0"/>
              <a:t> no tenía muchas estadísticas que son muy útiles para el desarrollo del trabajo, como puede ser, el país de origen, (reconstruí esta información usando la columna de </a:t>
            </a:r>
            <a:r>
              <a:rPr lang="es-ES" i="1" dirty="0" err="1"/>
              <a:t>college</a:t>
            </a:r>
            <a:r>
              <a:rPr lang="es-ES" dirty="0"/>
              <a:t>, y posteriormente hice una corrección manual para identificar correctamente a los jugadores extranjeros, teniendo en cuenta casos como </a:t>
            </a:r>
            <a:r>
              <a:rPr lang="es-ES" dirty="0" err="1"/>
              <a:t>LeBron</a:t>
            </a:r>
            <a:r>
              <a:rPr lang="es-ES" dirty="0"/>
              <a:t> o Kobe, que no pasaron por la universidad), si ganó el jugador o no el MVP de la temporada, o estadísticas tan importantes como la anotación de un equipo a lo largo de una temporada.</a:t>
            </a:r>
          </a:p>
          <a:p>
            <a:endParaRPr lang="es-ES" dirty="0"/>
          </a:p>
          <a:p>
            <a:r>
              <a:rPr lang="es-ES" dirty="0"/>
              <a:t>Además, organicé el </a:t>
            </a:r>
            <a:r>
              <a:rPr lang="es-ES" dirty="0" err="1"/>
              <a:t>dataset</a:t>
            </a:r>
            <a:r>
              <a:rPr lang="es-ES" dirty="0"/>
              <a:t> por décadas para analizar cómo evoluciona la liga en el tiempo."*</a:t>
            </a:r>
          </a:p>
          <a:p>
            <a:endParaRPr lang="es-ES" dirty="0"/>
          </a:p>
        </p:txBody>
      </p:sp>
      <p:sp>
        <p:nvSpPr>
          <p:cNvPr id="4" name="Marcador de número de diapositiva 3"/>
          <p:cNvSpPr>
            <a:spLocks noGrp="1"/>
          </p:cNvSpPr>
          <p:nvPr>
            <p:ph type="sldNum" sz="quarter" idx="5"/>
          </p:nvPr>
        </p:nvSpPr>
        <p:spPr/>
        <p:txBody>
          <a:bodyPr/>
          <a:lstStyle/>
          <a:p>
            <a:fld id="{03ECACCD-5843-4A15-8306-CB5B0E7D4DE7}" type="slidenum">
              <a:rPr lang="es-ES" smtClean="0"/>
              <a:t>2</a:t>
            </a:fld>
            <a:endParaRPr lang="es-ES"/>
          </a:p>
        </p:txBody>
      </p:sp>
    </p:spTree>
    <p:extLst>
      <p:ext uri="{BB962C8B-B14F-4D97-AF65-F5344CB8AC3E}">
        <p14:creationId xmlns:p14="http://schemas.microsoft.com/office/powerpoint/2010/main" val="4161408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Uno de los puntos clave fue desarrollar una métrica para identificar el </a:t>
            </a:r>
            <a:r>
              <a:rPr lang="es-ES" i="1" dirty="0"/>
              <a:t>prime</a:t>
            </a:r>
            <a:r>
              <a:rPr lang="es-ES" dirty="0"/>
              <a:t>, es decir, la edad de máximo rendimiento de un jugador.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Esta estadística del PRIME Se basa en una ponderación de estadísticas como los puntos, rebotes, </a:t>
            </a:r>
            <a:r>
              <a:rPr lang="es-ES" dirty="0" err="1"/>
              <a:t>etc</a:t>
            </a:r>
            <a:r>
              <a:rPr lang="es-ES" dirty="0"/>
              <a:t>, </a:t>
            </a:r>
            <a:r>
              <a:rPr lang="es-ES" dirty="0" err="1"/>
              <a:t>coomparándolo</a:t>
            </a:r>
            <a:r>
              <a:rPr lang="es-ES" dirty="0"/>
              <a:t> con la edad del jugador.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r>
              <a:rPr lang="es-ES" dirty="0"/>
              <a:t>Inicialmente, el cálculo daba picos irreales, cerca de los 40 años, porque algunos jugadores excepcionales mantenían estadísticas altas jugando muy pocos partidos.</a:t>
            </a:r>
            <a:br>
              <a:rPr lang="es-ES" dirty="0"/>
            </a:br>
            <a:r>
              <a:rPr lang="es-ES" dirty="0"/>
              <a:t>Para corregir esto añadí penalizaciones por disponibilidad y un suavizado por ventanas móviles.</a:t>
            </a:r>
          </a:p>
          <a:p>
            <a:r>
              <a:rPr lang="es-ES" dirty="0"/>
              <a:t>Con este enfoque, el prime de la NBA queda entre los </a:t>
            </a:r>
            <a:r>
              <a:rPr lang="es-ES" b="1" dirty="0"/>
              <a:t>26 y 30 años</a:t>
            </a:r>
            <a:r>
              <a:rPr lang="es-ES" dirty="0"/>
              <a:t>, que coincide con la evidencia real</a:t>
            </a:r>
          </a:p>
          <a:p>
            <a:endParaRPr lang="es-ES" dirty="0"/>
          </a:p>
        </p:txBody>
      </p:sp>
      <p:sp>
        <p:nvSpPr>
          <p:cNvPr id="4" name="Marcador de número de diapositiva 3"/>
          <p:cNvSpPr>
            <a:spLocks noGrp="1"/>
          </p:cNvSpPr>
          <p:nvPr>
            <p:ph type="sldNum" sz="quarter" idx="5"/>
          </p:nvPr>
        </p:nvSpPr>
        <p:spPr/>
        <p:txBody>
          <a:bodyPr/>
          <a:lstStyle/>
          <a:p>
            <a:fld id="{03ECACCD-5843-4A15-8306-CB5B0E7D4DE7}" type="slidenum">
              <a:rPr lang="es-ES" smtClean="0"/>
              <a:t>3</a:t>
            </a:fld>
            <a:endParaRPr lang="es-ES"/>
          </a:p>
        </p:txBody>
      </p:sp>
    </p:spTree>
    <p:extLst>
      <p:ext uri="{BB962C8B-B14F-4D97-AF65-F5344CB8AC3E}">
        <p14:creationId xmlns:p14="http://schemas.microsoft.com/office/powerpoint/2010/main" val="31784213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La segunda parte de la diapositiva muestra la evolución de los jugadores extranjeros.</a:t>
            </a:r>
          </a:p>
          <a:p>
            <a:br>
              <a:rPr lang="es-ES" dirty="0"/>
            </a:br>
            <a:r>
              <a:rPr lang="es-ES" dirty="0"/>
              <a:t>En los 80 eran minoría, pero desde los 2000 su influencia crece de forma constante, tanto en volumen como en eficiencia.</a:t>
            </a:r>
          </a:p>
          <a:p>
            <a:endParaRPr lang="es-ES" dirty="0"/>
          </a:p>
          <a:p>
            <a:r>
              <a:rPr lang="es-ES" dirty="0"/>
              <a:t>De hecho, en la última década, la eficiencia media de los extranjeros supera ligeramente a la de los jugadores estadounidenses, y varios MVP recientes —como </a:t>
            </a:r>
            <a:r>
              <a:rPr lang="es-ES" dirty="0" err="1"/>
              <a:t>Jokic</a:t>
            </a:r>
            <a:r>
              <a:rPr lang="es-ES" dirty="0"/>
              <a:t> o </a:t>
            </a:r>
            <a:r>
              <a:rPr lang="es-ES" dirty="0" err="1"/>
              <a:t>Giannis</a:t>
            </a:r>
            <a:r>
              <a:rPr lang="es-ES" dirty="0"/>
              <a:t>— confirman esta tendencia."*</a:t>
            </a:r>
          </a:p>
          <a:p>
            <a:endParaRPr lang="es-ES" dirty="0"/>
          </a:p>
        </p:txBody>
      </p:sp>
      <p:sp>
        <p:nvSpPr>
          <p:cNvPr id="4" name="Marcador de número de diapositiva 3"/>
          <p:cNvSpPr>
            <a:spLocks noGrp="1"/>
          </p:cNvSpPr>
          <p:nvPr>
            <p:ph type="sldNum" sz="quarter" idx="5"/>
          </p:nvPr>
        </p:nvSpPr>
        <p:spPr/>
        <p:txBody>
          <a:bodyPr/>
          <a:lstStyle/>
          <a:p>
            <a:fld id="{03ECACCD-5843-4A15-8306-CB5B0E7D4DE7}" type="slidenum">
              <a:rPr lang="es-ES" smtClean="0"/>
              <a:t>4</a:t>
            </a:fld>
            <a:endParaRPr lang="es-ES"/>
          </a:p>
        </p:txBody>
      </p:sp>
    </p:spTree>
    <p:extLst>
      <p:ext uri="{BB962C8B-B14F-4D97-AF65-F5344CB8AC3E}">
        <p14:creationId xmlns:p14="http://schemas.microsoft.com/office/powerpoint/2010/main" val="19670260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Se compararon el uso de dos modelos de Inteligencia Artificial, por un lado un </a:t>
            </a:r>
            <a:r>
              <a:rPr lang="es-ES" dirty="0" err="1"/>
              <a:t>random</a:t>
            </a:r>
            <a:r>
              <a:rPr lang="es-ES" dirty="0"/>
              <a:t> </a:t>
            </a:r>
            <a:r>
              <a:rPr lang="es-ES" dirty="0" err="1"/>
              <a:t>forest</a:t>
            </a:r>
            <a:r>
              <a:rPr lang="es-ES" dirty="0"/>
              <a:t> y por el otro lado un </a:t>
            </a:r>
            <a:r>
              <a:rPr lang="es-ES" dirty="0" err="1"/>
              <a:t>XGBoost</a:t>
            </a:r>
            <a:r>
              <a:rPr lang="es-ES" dirty="0"/>
              <a:t>.</a:t>
            </a:r>
            <a:br>
              <a:rPr lang="es-ES" dirty="0"/>
            </a:br>
            <a:br>
              <a:rPr lang="es-ES" dirty="0"/>
            </a:br>
            <a:r>
              <a:rPr lang="es-ES" dirty="0"/>
              <a:t>Con esto, se ´pretende observar las estadísticas que son más importantes para designar un MVP. Se observa en los dos Modelos que los puntos son la estadística más importante en ambos, pero también el porcentaje de partidos ganados por ese jugador, así que podemos deducir que el MVP no solo depende de estadísticas individuales, sino también del éxito del equipo</a:t>
            </a:r>
          </a:p>
          <a:p>
            <a:endParaRPr lang="es-ES" dirty="0"/>
          </a:p>
        </p:txBody>
      </p:sp>
      <p:sp>
        <p:nvSpPr>
          <p:cNvPr id="4" name="Marcador de número de diapositiva 3"/>
          <p:cNvSpPr>
            <a:spLocks noGrp="1"/>
          </p:cNvSpPr>
          <p:nvPr>
            <p:ph type="sldNum" sz="quarter" idx="5"/>
          </p:nvPr>
        </p:nvSpPr>
        <p:spPr/>
        <p:txBody>
          <a:bodyPr/>
          <a:lstStyle/>
          <a:p>
            <a:fld id="{03ECACCD-5843-4A15-8306-CB5B0E7D4DE7}" type="slidenum">
              <a:rPr lang="es-ES" smtClean="0"/>
              <a:t>5</a:t>
            </a:fld>
            <a:endParaRPr lang="es-ES"/>
          </a:p>
        </p:txBody>
      </p:sp>
    </p:spTree>
    <p:extLst>
      <p:ext uri="{BB962C8B-B14F-4D97-AF65-F5344CB8AC3E}">
        <p14:creationId xmlns:p14="http://schemas.microsoft.com/office/powerpoint/2010/main" val="7802819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El elemento central del proyecto es el </a:t>
            </a:r>
            <a:r>
              <a:rPr lang="es-ES" dirty="0" err="1"/>
              <a:t>chatbot</a:t>
            </a:r>
            <a:r>
              <a:rPr lang="es-ES" dirty="0"/>
              <a:t> que integra todo el trabajo.</a:t>
            </a:r>
          </a:p>
          <a:p>
            <a:r>
              <a:rPr lang="es-ES" dirty="0"/>
              <a:t>Este </a:t>
            </a:r>
            <a:r>
              <a:rPr lang="es-ES" dirty="0" err="1"/>
              <a:t>chatbot</a:t>
            </a:r>
            <a:r>
              <a:rPr lang="es-ES" dirty="0"/>
              <a:t> es capaz de responder preguntas de forma natural, generar gráficos, hacer comparaciones automáticas.</a:t>
            </a:r>
            <a:br>
              <a:rPr lang="es-ES" dirty="0"/>
            </a:br>
            <a:br>
              <a:rPr lang="es-ES" dirty="0"/>
            </a:br>
            <a:r>
              <a:rPr lang="es-ES" dirty="0"/>
              <a:t>Esta conectado a estadísticas como, las estadísticas principales de los jugadores, el análisis por década, capaz de hacer tops históricos, generación de gráficas comparativas, </a:t>
            </a:r>
            <a:r>
              <a:rPr lang="es-ES" dirty="0" err="1"/>
              <a:t>etc</a:t>
            </a:r>
            <a:endParaRPr lang="es-ES" dirty="0"/>
          </a:p>
          <a:p>
            <a:r>
              <a:rPr lang="es-ES" dirty="0"/>
              <a:t>La potencia de este </a:t>
            </a:r>
            <a:r>
              <a:rPr lang="es-ES" dirty="0" err="1"/>
              <a:t>chatbot</a:t>
            </a:r>
            <a:r>
              <a:rPr lang="es-ES" dirty="0"/>
              <a:t> no está solo en responder preguntas, sino en hacerlo usando el análisis que yo mismo he programado, lo que permite una interacción continua con el conocimiento del TFM.</a:t>
            </a:r>
          </a:p>
          <a:p>
            <a:r>
              <a:rPr lang="es-ES" dirty="0"/>
              <a:t>Con esto, la inteligencia artificial se convierte en una herramienta para investigar la NBA de una manera completamente nueva.</a:t>
            </a:r>
          </a:p>
          <a:p>
            <a:endParaRPr lang="es-ES" dirty="0"/>
          </a:p>
          <a:p>
            <a:endParaRPr lang="es-ES" dirty="0"/>
          </a:p>
          <a:p>
            <a:r>
              <a:rPr lang="es-ES" dirty="0"/>
              <a:t>Algunos ejemplos serían: </a:t>
            </a:r>
            <a:br>
              <a:rPr lang="es-ES" dirty="0"/>
            </a:br>
            <a:r>
              <a:rPr lang="es-ES" sz="1200" b="0" i="0" u="none" strike="noStrike" kern="1200" dirty="0" err="1">
                <a:solidFill>
                  <a:schemeClr val="tx1"/>
                </a:solidFill>
                <a:effectLst/>
                <a:latin typeface="+mn-lt"/>
                <a:ea typeface="+mn-ea"/>
                <a:cs typeface="+mn-cs"/>
              </a:rPr>
              <a:t>Muestrame</a:t>
            </a:r>
            <a:r>
              <a:rPr lang="es-ES" sz="1200" b="0" i="0" u="none" strike="noStrike" kern="1200" dirty="0">
                <a:solidFill>
                  <a:schemeClr val="tx1"/>
                </a:solidFill>
                <a:effectLst/>
                <a:latin typeface="+mn-lt"/>
                <a:ea typeface="+mn-ea"/>
                <a:cs typeface="+mn-cs"/>
              </a:rPr>
              <a:t> en una gráfica la </a:t>
            </a:r>
            <a:r>
              <a:rPr lang="es-ES" sz="1200" b="0" i="0" u="none" strike="noStrike" kern="1200" dirty="0" err="1">
                <a:solidFill>
                  <a:schemeClr val="tx1"/>
                </a:solidFill>
                <a:effectLst/>
                <a:latin typeface="+mn-lt"/>
                <a:ea typeface="+mn-ea"/>
                <a:cs typeface="+mn-cs"/>
              </a:rPr>
              <a:t>coomparativa</a:t>
            </a:r>
            <a:r>
              <a:rPr lang="es-ES" sz="1200" b="0" i="0" u="none" strike="noStrike" kern="1200" dirty="0">
                <a:solidFill>
                  <a:schemeClr val="tx1"/>
                </a:solidFill>
                <a:effectLst/>
                <a:latin typeface="+mn-lt"/>
                <a:ea typeface="+mn-ea"/>
                <a:cs typeface="+mn-cs"/>
              </a:rPr>
              <a:t> de asistencias totales entre </a:t>
            </a:r>
            <a:r>
              <a:rPr lang="es-ES" sz="1200" b="0" i="0" u="none" strike="noStrike" kern="1200" dirty="0" err="1">
                <a:solidFill>
                  <a:schemeClr val="tx1"/>
                </a:solidFill>
                <a:effectLst/>
                <a:latin typeface="+mn-lt"/>
                <a:ea typeface="+mn-ea"/>
                <a:cs typeface="+mn-cs"/>
              </a:rPr>
              <a:t>lebron</a:t>
            </a:r>
            <a:r>
              <a:rPr lang="es-ES" sz="1200" b="0" i="0" u="none" strike="noStrike" kern="1200" dirty="0">
                <a:solidFill>
                  <a:schemeClr val="tx1"/>
                </a:solidFill>
                <a:effectLst/>
                <a:latin typeface="+mn-lt"/>
                <a:ea typeface="+mn-ea"/>
                <a:cs typeface="+mn-cs"/>
              </a:rPr>
              <a:t> James, Kobe Bryant y </a:t>
            </a:r>
            <a:r>
              <a:rPr lang="es-ES" sz="1200" b="0" i="0" u="none" strike="noStrike" kern="1200" dirty="0" err="1">
                <a:solidFill>
                  <a:schemeClr val="tx1"/>
                </a:solidFill>
                <a:effectLst/>
                <a:latin typeface="+mn-lt"/>
                <a:ea typeface="+mn-ea"/>
                <a:cs typeface="+mn-cs"/>
              </a:rPr>
              <a:t>steve</a:t>
            </a:r>
            <a:r>
              <a:rPr lang="es-ES" sz="1200" b="0" i="0" u="none" strike="noStrike" kern="1200" dirty="0">
                <a:solidFill>
                  <a:schemeClr val="tx1"/>
                </a:solidFill>
                <a:effectLst/>
                <a:latin typeface="+mn-lt"/>
                <a:ea typeface="+mn-ea"/>
                <a:cs typeface="+mn-cs"/>
              </a:rPr>
              <a:t> Nash a lo largo de su carrera.</a:t>
            </a:r>
            <a:r>
              <a:rPr lang="es-ES" dirty="0">
                <a:effectLst/>
              </a:rPr>
              <a:t> </a:t>
            </a:r>
          </a:p>
          <a:p>
            <a:r>
              <a:rPr lang="es-ES" sz="1200" b="0" i="0" u="none" strike="noStrike" kern="1200" dirty="0">
                <a:solidFill>
                  <a:schemeClr val="tx1"/>
                </a:solidFill>
                <a:effectLst/>
                <a:latin typeface="+mn-lt"/>
                <a:ea typeface="+mn-ea"/>
                <a:cs typeface="+mn-cs"/>
              </a:rPr>
              <a:t>cuantos escoltas han ganado el MVP en toda la historia?</a:t>
            </a:r>
            <a:r>
              <a:rPr lang="es-ES" dirty="0">
                <a:effectLst/>
              </a:rPr>
              <a:t> </a:t>
            </a:r>
          </a:p>
          <a:p>
            <a:r>
              <a:rPr lang="es-ES" sz="1200" b="0" i="0" u="none" strike="noStrike" kern="1200" dirty="0" err="1">
                <a:solidFill>
                  <a:schemeClr val="tx1"/>
                </a:solidFill>
                <a:effectLst/>
                <a:latin typeface="+mn-lt"/>
                <a:ea typeface="+mn-ea"/>
                <a:cs typeface="+mn-cs"/>
              </a:rPr>
              <a:t>Estadisticas</a:t>
            </a:r>
            <a:r>
              <a:rPr lang="es-ES" sz="1200" b="0" i="0" u="none" strike="noStrike" kern="1200" dirty="0">
                <a:solidFill>
                  <a:schemeClr val="tx1"/>
                </a:solidFill>
                <a:effectLst/>
                <a:latin typeface="+mn-lt"/>
                <a:ea typeface="+mn-ea"/>
                <a:cs typeface="+mn-cs"/>
              </a:rPr>
              <a:t> de la carrera de </a:t>
            </a:r>
            <a:r>
              <a:rPr lang="es-ES" sz="1200" b="0" i="0" u="none" strike="noStrike" kern="1200" dirty="0" err="1">
                <a:solidFill>
                  <a:schemeClr val="tx1"/>
                </a:solidFill>
                <a:effectLst/>
                <a:latin typeface="+mn-lt"/>
                <a:ea typeface="+mn-ea"/>
                <a:cs typeface="+mn-cs"/>
              </a:rPr>
              <a:t>Lebron</a:t>
            </a:r>
            <a:r>
              <a:rPr lang="es-ES" sz="1200" b="0" i="0" u="none" strike="noStrike" kern="1200" dirty="0">
                <a:solidFill>
                  <a:schemeClr val="tx1"/>
                </a:solidFill>
                <a:effectLst/>
                <a:latin typeface="+mn-lt"/>
                <a:ea typeface="+mn-ea"/>
                <a:cs typeface="+mn-cs"/>
              </a:rPr>
              <a:t> James</a:t>
            </a:r>
            <a:r>
              <a:rPr lang="es-ES" dirty="0">
                <a:effectLst/>
              </a:rPr>
              <a:t> </a:t>
            </a:r>
            <a:endParaRPr lang="es-ES" dirty="0"/>
          </a:p>
          <a:p>
            <a:r>
              <a:rPr lang="es-ES" sz="1200" b="0" i="0" u="none" strike="noStrike" kern="1200" dirty="0">
                <a:solidFill>
                  <a:schemeClr val="tx1"/>
                </a:solidFill>
                <a:effectLst/>
                <a:latin typeface="+mn-lt"/>
                <a:ea typeface="+mn-ea"/>
                <a:cs typeface="+mn-cs"/>
              </a:rPr>
              <a:t>Top 5 máximos asistentes de la historia de la NBA</a:t>
            </a:r>
            <a:r>
              <a:rPr lang="es-ES" dirty="0">
                <a:effectLst/>
              </a:rPr>
              <a:t> </a:t>
            </a:r>
          </a:p>
          <a:p>
            <a:r>
              <a:rPr lang="es-ES" sz="1200" b="0" i="0" u="none" strike="noStrike" kern="1200" dirty="0" err="1">
                <a:solidFill>
                  <a:schemeClr val="tx1"/>
                </a:solidFill>
                <a:effectLst/>
                <a:latin typeface="+mn-lt"/>
                <a:ea typeface="+mn-ea"/>
                <a:cs typeface="+mn-cs"/>
              </a:rPr>
              <a:t>Muestrame</a:t>
            </a:r>
            <a:r>
              <a:rPr lang="es-ES" sz="1200" b="0" i="0" u="none" strike="noStrike" kern="1200" dirty="0">
                <a:solidFill>
                  <a:schemeClr val="tx1"/>
                </a:solidFill>
                <a:effectLst/>
                <a:latin typeface="+mn-lt"/>
                <a:ea typeface="+mn-ea"/>
                <a:cs typeface="+mn-cs"/>
              </a:rPr>
              <a:t> una grafica, por edad, de los puntos de Kobe y </a:t>
            </a:r>
            <a:r>
              <a:rPr lang="es-ES" sz="1200" b="0" i="0" u="none" strike="noStrike" kern="1200" dirty="0" err="1">
                <a:solidFill>
                  <a:schemeClr val="tx1"/>
                </a:solidFill>
                <a:effectLst/>
                <a:latin typeface="+mn-lt"/>
                <a:ea typeface="+mn-ea"/>
                <a:cs typeface="+mn-cs"/>
              </a:rPr>
              <a:t>Lebron</a:t>
            </a:r>
            <a:r>
              <a:rPr lang="es-ES" sz="1200" b="0" i="0" u="none" strike="noStrike" kern="1200" dirty="0">
                <a:solidFill>
                  <a:schemeClr val="tx1"/>
                </a:solidFill>
                <a:effectLst/>
                <a:latin typeface="+mn-lt"/>
                <a:ea typeface="+mn-ea"/>
                <a:cs typeface="+mn-cs"/>
              </a:rPr>
              <a:t> a lo largo de su carrera</a:t>
            </a:r>
            <a:r>
              <a:rPr lang="es-ES" dirty="0">
                <a:effectLst/>
              </a:rPr>
              <a:t> </a:t>
            </a:r>
            <a:endParaRPr lang="es-ES" dirty="0"/>
          </a:p>
          <a:p>
            <a:endParaRPr lang="es-ES" dirty="0"/>
          </a:p>
        </p:txBody>
      </p:sp>
      <p:sp>
        <p:nvSpPr>
          <p:cNvPr id="4" name="Marcador de número de diapositiva 3"/>
          <p:cNvSpPr>
            <a:spLocks noGrp="1"/>
          </p:cNvSpPr>
          <p:nvPr>
            <p:ph type="sldNum" sz="quarter" idx="5"/>
          </p:nvPr>
        </p:nvSpPr>
        <p:spPr/>
        <p:txBody>
          <a:bodyPr/>
          <a:lstStyle/>
          <a:p>
            <a:fld id="{03ECACCD-5843-4A15-8306-CB5B0E7D4DE7}" type="slidenum">
              <a:rPr lang="es-ES" smtClean="0"/>
              <a:t>6</a:t>
            </a:fld>
            <a:endParaRPr lang="es-ES"/>
          </a:p>
        </p:txBody>
      </p:sp>
    </p:spTree>
    <p:extLst>
      <p:ext uri="{BB962C8B-B14F-4D97-AF65-F5344CB8AC3E}">
        <p14:creationId xmlns:p14="http://schemas.microsoft.com/office/powerpoint/2010/main" val="4088568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Primero, que es posible construir una métrica robusta de prime que refleje correctamente la evolución del rendimiento por edad.</a:t>
            </a:r>
          </a:p>
          <a:p>
            <a:endParaRPr lang="es-ES" dirty="0"/>
          </a:p>
          <a:p>
            <a:r>
              <a:rPr lang="es-ES" dirty="0"/>
              <a:t>Segundo, que los jugadores extranjeros han aumentado de forma notable su impacto y eficiencia a lo largo de las décadas.</a:t>
            </a:r>
          </a:p>
          <a:p>
            <a:endParaRPr lang="es-ES" dirty="0"/>
          </a:p>
          <a:p>
            <a:r>
              <a:rPr lang="es-ES" dirty="0"/>
              <a:t>Tercero, que un modelo de machine </a:t>
            </a:r>
            <a:r>
              <a:rPr lang="es-ES" dirty="0" err="1"/>
              <a:t>learning</a:t>
            </a:r>
            <a:r>
              <a:rPr lang="es-ES" dirty="0"/>
              <a:t> como </a:t>
            </a:r>
            <a:r>
              <a:rPr lang="es-ES" dirty="0" err="1"/>
              <a:t>Random</a:t>
            </a:r>
            <a:r>
              <a:rPr lang="es-ES" dirty="0"/>
              <a:t> Forest y </a:t>
            </a:r>
            <a:r>
              <a:rPr lang="es-ES" dirty="0" err="1"/>
              <a:t>XGBoost</a:t>
            </a:r>
            <a:r>
              <a:rPr lang="es-ES" dirty="0"/>
              <a:t> puede predecir con buena precisión qué jugadores son candidatos al MVP.</a:t>
            </a:r>
          </a:p>
          <a:p>
            <a:endParaRPr lang="es-ES" dirty="0"/>
          </a:p>
          <a:p>
            <a:r>
              <a:rPr lang="es-ES" dirty="0"/>
              <a:t>Y cuarto, y más importante:</a:t>
            </a:r>
            <a:br>
              <a:rPr lang="es-ES" dirty="0"/>
            </a:br>
            <a:r>
              <a:rPr lang="es-ES" dirty="0"/>
              <a:t>que todos estos análisis se pueden integrar en un </a:t>
            </a:r>
            <a:r>
              <a:rPr lang="es-ES" dirty="0" err="1"/>
              <a:t>chatbot</a:t>
            </a:r>
            <a:r>
              <a:rPr lang="es-ES" dirty="0"/>
              <a:t> avanzado, que permite explorar los datos de manera interactiva, intuitiva y accesible.</a:t>
            </a:r>
          </a:p>
          <a:p>
            <a:r>
              <a:rPr lang="es-ES" dirty="0"/>
              <a:t>En conjunto, el TFM demuestra cómo la combinación de datos, estadística e inteligencia artificial puede ofrecer una visión completa y dinámica del baloncesto profesional.</a:t>
            </a:r>
          </a:p>
          <a:p>
            <a:r>
              <a:rPr lang="es-ES" dirty="0"/>
              <a:t>Gracias por vuestra atención."*</a:t>
            </a:r>
          </a:p>
          <a:p>
            <a:endParaRPr lang="es-ES" dirty="0"/>
          </a:p>
        </p:txBody>
      </p:sp>
      <p:sp>
        <p:nvSpPr>
          <p:cNvPr id="4" name="Marcador de número de diapositiva 3"/>
          <p:cNvSpPr>
            <a:spLocks noGrp="1"/>
          </p:cNvSpPr>
          <p:nvPr>
            <p:ph type="sldNum" sz="quarter" idx="5"/>
          </p:nvPr>
        </p:nvSpPr>
        <p:spPr/>
        <p:txBody>
          <a:bodyPr/>
          <a:lstStyle/>
          <a:p>
            <a:fld id="{03ECACCD-5843-4A15-8306-CB5B0E7D4DE7}" type="slidenum">
              <a:rPr lang="es-ES" smtClean="0"/>
              <a:t>7</a:t>
            </a:fld>
            <a:endParaRPr lang="es-ES"/>
          </a:p>
        </p:txBody>
      </p:sp>
    </p:spTree>
    <p:extLst>
      <p:ext uri="{BB962C8B-B14F-4D97-AF65-F5344CB8AC3E}">
        <p14:creationId xmlns:p14="http://schemas.microsoft.com/office/powerpoint/2010/main" val="854785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A587B4-37D1-BFCE-8DBA-C38B7D58DBB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D0CD49F6-C00B-D14F-6AB6-77717E6DD5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39681A24-79A1-D1D5-4B81-C6C747F035CC}"/>
              </a:ext>
            </a:extLst>
          </p:cNvPr>
          <p:cNvSpPr>
            <a:spLocks noGrp="1"/>
          </p:cNvSpPr>
          <p:nvPr>
            <p:ph type="dt" sz="half" idx="10"/>
          </p:nvPr>
        </p:nvSpPr>
        <p:spPr/>
        <p:txBody>
          <a:bodyPr/>
          <a:lstStyle/>
          <a:p>
            <a:fld id="{526CD18B-69D3-4C9B-9675-AFB327D7624E}" type="datetimeFigureOut">
              <a:rPr lang="es-ES" smtClean="0"/>
              <a:t>17/02/2026</a:t>
            </a:fld>
            <a:endParaRPr lang="es-ES"/>
          </a:p>
        </p:txBody>
      </p:sp>
      <p:sp>
        <p:nvSpPr>
          <p:cNvPr id="5" name="Marcador de pie de página 4">
            <a:extLst>
              <a:ext uri="{FF2B5EF4-FFF2-40B4-BE49-F238E27FC236}">
                <a16:creationId xmlns:a16="http://schemas.microsoft.com/office/drawing/2014/main" id="{25F81B05-7EBC-5CF2-C01F-93A48444CE0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A4E0F5BF-7CC3-09BA-EADD-5C67349B6C12}"/>
              </a:ext>
            </a:extLst>
          </p:cNvPr>
          <p:cNvSpPr>
            <a:spLocks noGrp="1"/>
          </p:cNvSpPr>
          <p:nvPr>
            <p:ph type="sldNum" sz="quarter" idx="12"/>
          </p:nvPr>
        </p:nvSpPr>
        <p:spPr/>
        <p:txBody>
          <a:bodyPr/>
          <a:lstStyle/>
          <a:p>
            <a:fld id="{57A75B59-9165-44D0-BF42-425E22E58D30}" type="slidenum">
              <a:rPr lang="es-ES" smtClean="0"/>
              <a:t>‹Nº›</a:t>
            </a:fld>
            <a:endParaRPr lang="es-ES"/>
          </a:p>
        </p:txBody>
      </p:sp>
    </p:spTree>
    <p:extLst>
      <p:ext uri="{BB962C8B-B14F-4D97-AF65-F5344CB8AC3E}">
        <p14:creationId xmlns:p14="http://schemas.microsoft.com/office/powerpoint/2010/main" val="2807055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D92516-CA3C-4F28-0843-A9AFB712EF0D}"/>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A398A31A-F3FC-289C-0B38-9196224E18D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FDF8A69-D609-31C7-282C-B2FB45EB71FB}"/>
              </a:ext>
            </a:extLst>
          </p:cNvPr>
          <p:cNvSpPr>
            <a:spLocks noGrp="1"/>
          </p:cNvSpPr>
          <p:nvPr>
            <p:ph type="dt" sz="half" idx="10"/>
          </p:nvPr>
        </p:nvSpPr>
        <p:spPr/>
        <p:txBody>
          <a:bodyPr/>
          <a:lstStyle/>
          <a:p>
            <a:fld id="{526CD18B-69D3-4C9B-9675-AFB327D7624E}" type="datetimeFigureOut">
              <a:rPr lang="es-ES" smtClean="0"/>
              <a:t>17/02/2026</a:t>
            </a:fld>
            <a:endParaRPr lang="es-ES"/>
          </a:p>
        </p:txBody>
      </p:sp>
      <p:sp>
        <p:nvSpPr>
          <p:cNvPr id="5" name="Marcador de pie de página 4">
            <a:extLst>
              <a:ext uri="{FF2B5EF4-FFF2-40B4-BE49-F238E27FC236}">
                <a16:creationId xmlns:a16="http://schemas.microsoft.com/office/drawing/2014/main" id="{4120A709-2D6F-A8B1-2009-95B6E6119D90}"/>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F17A294-975E-72C3-13D8-6BFD20A523E6}"/>
              </a:ext>
            </a:extLst>
          </p:cNvPr>
          <p:cNvSpPr>
            <a:spLocks noGrp="1"/>
          </p:cNvSpPr>
          <p:nvPr>
            <p:ph type="sldNum" sz="quarter" idx="12"/>
          </p:nvPr>
        </p:nvSpPr>
        <p:spPr/>
        <p:txBody>
          <a:bodyPr/>
          <a:lstStyle/>
          <a:p>
            <a:fld id="{57A75B59-9165-44D0-BF42-425E22E58D30}" type="slidenum">
              <a:rPr lang="es-ES" smtClean="0"/>
              <a:t>‹Nº›</a:t>
            </a:fld>
            <a:endParaRPr lang="es-ES"/>
          </a:p>
        </p:txBody>
      </p:sp>
    </p:spTree>
    <p:extLst>
      <p:ext uri="{BB962C8B-B14F-4D97-AF65-F5344CB8AC3E}">
        <p14:creationId xmlns:p14="http://schemas.microsoft.com/office/powerpoint/2010/main" val="477921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156190-DB94-5549-16DC-1A17CF1AFE5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BFA6086F-304C-ECEF-6661-25180764EC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0023B3A-A502-939B-0762-55FB76214F50}"/>
              </a:ext>
            </a:extLst>
          </p:cNvPr>
          <p:cNvSpPr>
            <a:spLocks noGrp="1"/>
          </p:cNvSpPr>
          <p:nvPr>
            <p:ph type="dt" sz="half" idx="10"/>
          </p:nvPr>
        </p:nvSpPr>
        <p:spPr/>
        <p:txBody>
          <a:bodyPr/>
          <a:lstStyle/>
          <a:p>
            <a:fld id="{526CD18B-69D3-4C9B-9675-AFB327D7624E}" type="datetimeFigureOut">
              <a:rPr lang="es-ES" smtClean="0"/>
              <a:t>17/02/2026</a:t>
            </a:fld>
            <a:endParaRPr lang="es-ES"/>
          </a:p>
        </p:txBody>
      </p:sp>
      <p:sp>
        <p:nvSpPr>
          <p:cNvPr id="5" name="Marcador de pie de página 4">
            <a:extLst>
              <a:ext uri="{FF2B5EF4-FFF2-40B4-BE49-F238E27FC236}">
                <a16:creationId xmlns:a16="http://schemas.microsoft.com/office/drawing/2014/main" id="{51F397F7-939D-4480-6A76-0B80C2C9BD2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6ACCB24E-CF96-F2B4-EDA4-D05C9584CB55}"/>
              </a:ext>
            </a:extLst>
          </p:cNvPr>
          <p:cNvSpPr>
            <a:spLocks noGrp="1"/>
          </p:cNvSpPr>
          <p:nvPr>
            <p:ph type="sldNum" sz="quarter" idx="12"/>
          </p:nvPr>
        </p:nvSpPr>
        <p:spPr/>
        <p:txBody>
          <a:bodyPr/>
          <a:lstStyle/>
          <a:p>
            <a:fld id="{57A75B59-9165-44D0-BF42-425E22E58D30}" type="slidenum">
              <a:rPr lang="es-ES" smtClean="0"/>
              <a:t>‹Nº›</a:t>
            </a:fld>
            <a:endParaRPr lang="es-ES"/>
          </a:p>
        </p:txBody>
      </p:sp>
    </p:spTree>
    <p:extLst>
      <p:ext uri="{BB962C8B-B14F-4D97-AF65-F5344CB8AC3E}">
        <p14:creationId xmlns:p14="http://schemas.microsoft.com/office/powerpoint/2010/main" val="1874611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821E80-CEAB-7D7C-B98D-076B9D7D59C6}"/>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C67B5B28-F512-FD47-18E1-178DC225930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2F939156-6EAF-A247-2A2D-16253E39510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5CDA4C72-4EE3-6A64-CADA-3FA06F99EE50}"/>
              </a:ext>
            </a:extLst>
          </p:cNvPr>
          <p:cNvSpPr>
            <a:spLocks noGrp="1"/>
          </p:cNvSpPr>
          <p:nvPr>
            <p:ph type="dt" sz="half" idx="10"/>
          </p:nvPr>
        </p:nvSpPr>
        <p:spPr/>
        <p:txBody>
          <a:bodyPr/>
          <a:lstStyle/>
          <a:p>
            <a:fld id="{526CD18B-69D3-4C9B-9675-AFB327D7624E}" type="datetimeFigureOut">
              <a:rPr lang="es-ES" smtClean="0"/>
              <a:t>17/02/2026</a:t>
            </a:fld>
            <a:endParaRPr lang="es-ES"/>
          </a:p>
        </p:txBody>
      </p:sp>
      <p:sp>
        <p:nvSpPr>
          <p:cNvPr id="6" name="Marcador de pie de página 5">
            <a:extLst>
              <a:ext uri="{FF2B5EF4-FFF2-40B4-BE49-F238E27FC236}">
                <a16:creationId xmlns:a16="http://schemas.microsoft.com/office/drawing/2014/main" id="{FA34BD05-D1F7-7D7F-911C-9ABD9D56C97F}"/>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0EDAB327-C879-10D6-1E78-AE8487EF6FC4}"/>
              </a:ext>
            </a:extLst>
          </p:cNvPr>
          <p:cNvSpPr>
            <a:spLocks noGrp="1"/>
          </p:cNvSpPr>
          <p:nvPr>
            <p:ph type="sldNum" sz="quarter" idx="12"/>
          </p:nvPr>
        </p:nvSpPr>
        <p:spPr/>
        <p:txBody>
          <a:bodyPr/>
          <a:lstStyle/>
          <a:p>
            <a:fld id="{57A75B59-9165-44D0-BF42-425E22E58D30}" type="slidenum">
              <a:rPr lang="es-ES" smtClean="0"/>
              <a:t>‹Nº›</a:t>
            </a:fld>
            <a:endParaRPr lang="es-ES"/>
          </a:p>
        </p:txBody>
      </p:sp>
    </p:spTree>
    <p:extLst>
      <p:ext uri="{BB962C8B-B14F-4D97-AF65-F5344CB8AC3E}">
        <p14:creationId xmlns:p14="http://schemas.microsoft.com/office/powerpoint/2010/main" val="2823208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42EF04-EF28-759D-E950-7BD4C635601F}"/>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0BA426CE-C42C-5A0B-20BC-D1DD61CC91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8CF3794-1166-1515-EDF7-8C5E909C851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F2DCF61F-05FC-2918-158B-A93F632566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2BEC893-36E7-F17A-327C-5B8B4D10C02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AABB6B43-8B53-B653-93DB-A0A4B7A8B359}"/>
              </a:ext>
            </a:extLst>
          </p:cNvPr>
          <p:cNvSpPr>
            <a:spLocks noGrp="1"/>
          </p:cNvSpPr>
          <p:nvPr>
            <p:ph type="dt" sz="half" idx="10"/>
          </p:nvPr>
        </p:nvSpPr>
        <p:spPr/>
        <p:txBody>
          <a:bodyPr/>
          <a:lstStyle/>
          <a:p>
            <a:fld id="{526CD18B-69D3-4C9B-9675-AFB327D7624E}" type="datetimeFigureOut">
              <a:rPr lang="es-ES" smtClean="0"/>
              <a:t>17/02/2026</a:t>
            </a:fld>
            <a:endParaRPr lang="es-ES"/>
          </a:p>
        </p:txBody>
      </p:sp>
      <p:sp>
        <p:nvSpPr>
          <p:cNvPr id="8" name="Marcador de pie de página 7">
            <a:extLst>
              <a:ext uri="{FF2B5EF4-FFF2-40B4-BE49-F238E27FC236}">
                <a16:creationId xmlns:a16="http://schemas.microsoft.com/office/drawing/2014/main" id="{9AE411F4-9B31-1B0D-A27E-25A641C1834E}"/>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A4612C98-30A1-A7EA-8EDF-81CD815FBBDD}"/>
              </a:ext>
            </a:extLst>
          </p:cNvPr>
          <p:cNvSpPr>
            <a:spLocks noGrp="1"/>
          </p:cNvSpPr>
          <p:nvPr>
            <p:ph type="sldNum" sz="quarter" idx="12"/>
          </p:nvPr>
        </p:nvSpPr>
        <p:spPr/>
        <p:txBody>
          <a:bodyPr/>
          <a:lstStyle/>
          <a:p>
            <a:fld id="{57A75B59-9165-44D0-BF42-425E22E58D30}" type="slidenum">
              <a:rPr lang="es-ES" smtClean="0"/>
              <a:t>‹Nº›</a:t>
            </a:fld>
            <a:endParaRPr lang="es-ES"/>
          </a:p>
        </p:txBody>
      </p:sp>
    </p:spTree>
    <p:extLst>
      <p:ext uri="{BB962C8B-B14F-4D97-AF65-F5344CB8AC3E}">
        <p14:creationId xmlns:p14="http://schemas.microsoft.com/office/powerpoint/2010/main" val="467752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749151-7185-9BE8-1489-799D9F63BEB6}"/>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943EB868-5B52-5291-FF8C-AE3EDF8D0D88}"/>
              </a:ext>
            </a:extLst>
          </p:cNvPr>
          <p:cNvSpPr>
            <a:spLocks noGrp="1"/>
          </p:cNvSpPr>
          <p:nvPr>
            <p:ph type="dt" sz="half" idx="10"/>
          </p:nvPr>
        </p:nvSpPr>
        <p:spPr/>
        <p:txBody>
          <a:bodyPr/>
          <a:lstStyle/>
          <a:p>
            <a:fld id="{526CD18B-69D3-4C9B-9675-AFB327D7624E}" type="datetimeFigureOut">
              <a:rPr lang="es-ES" smtClean="0"/>
              <a:t>17/02/2026</a:t>
            </a:fld>
            <a:endParaRPr lang="es-ES"/>
          </a:p>
        </p:txBody>
      </p:sp>
      <p:sp>
        <p:nvSpPr>
          <p:cNvPr id="4" name="Marcador de pie de página 3">
            <a:extLst>
              <a:ext uri="{FF2B5EF4-FFF2-40B4-BE49-F238E27FC236}">
                <a16:creationId xmlns:a16="http://schemas.microsoft.com/office/drawing/2014/main" id="{18866783-3AFE-87CB-F96B-67BFEDA4D43C}"/>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B830CAB3-824E-D0B3-5665-CE2153BB1CDD}"/>
              </a:ext>
            </a:extLst>
          </p:cNvPr>
          <p:cNvSpPr>
            <a:spLocks noGrp="1"/>
          </p:cNvSpPr>
          <p:nvPr>
            <p:ph type="sldNum" sz="quarter" idx="12"/>
          </p:nvPr>
        </p:nvSpPr>
        <p:spPr/>
        <p:txBody>
          <a:bodyPr/>
          <a:lstStyle/>
          <a:p>
            <a:fld id="{57A75B59-9165-44D0-BF42-425E22E58D30}" type="slidenum">
              <a:rPr lang="es-ES" smtClean="0"/>
              <a:t>‹Nº›</a:t>
            </a:fld>
            <a:endParaRPr lang="es-ES"/>
          </a:p>
        </p:txBody>
      </p:sp>
    </p:spTree>
    <p:extLst>
      <p:ext uri="{BB962C8B-B14F-4D97-AF65-F5344CB8AC3E}">
        <p14:creationId xmlns:p14="http://schemas.microsoft.com/office/powerpoint/2010/main" val="2498514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C134CE7-A89D-87AD-72EA-1F3777E787D0}"/>
              </a:ext>
            </a:extLst>
          </p:cNvPr>
          <p:cNvSpPr>
            <a:spLocks noGrp="1"/>
          </p:cNvSpPr>
          <p:nvPr>
            <p:ph type="dt" sz="half" idx="10"/>
          </p:nvPr>
        </p:nvSpPr>
        <p:spPr/>
        <p:txBody>
          <a:bodyPr/>
          <a:lstStyle/>
          <a:p>
            <a:fld id="{526CD18B-69D3-4C9B-9675-AFB327D7624E}" type="datetimeFigureOut">
              <a:rPr lang="es-ES" smtClean="0"/>
              <a:t>17/02/2026</a:t>
            </a:fld>
            <a:endParaRPr lang="es-ES"/>
          </a:p>
        </p:txBody>
      </p:sp>
      <p:sp>
        <p:nvSpPr>
          <p:cNvPr id="3" name="Marcador de pie de página 2">
            <a:extLst>
              <a:ext uri="{FF2B5EF4-FFF2-40B4-BE49-F238E27FC236}">
                <a16:creationId xmlns:a16="http://schemas.microsoft.com/office/drawing/2014/main" id="{06F185B1-BE91-63A1-11D1-B22A841474D8}"/>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8A842189-38E4-A44C-1B1D-7EAE2C94793A}"/>
              </a:ext>
            </a:extLst>
          </p:cNvPr>
          <p:cNvSpPr>
            <a:spLocks noGrp="1"/>
          </p:cNvSpPr>
          <p:nvPr>
            <p:ph type="sldNum" sz="quarter" idx="12"/>
          </p:nvPr>
        </p:nvSpPr>
        <p:spPr/>
        <p:txBody>
          <a:bodyPr/>
          <a:lstStyle/>
          <a:p>
            <a:fld id="{57A75B59-9165-44D0-BF42-425E22E58D30}" type="slidenum">
              <a:rPr lang="es-ES" smtClean="0"/>
              <a:t>‹Nº›</a:t>
            </a:fld>
            <a:endParaRPr lang="es-ES"/>
          </a:p>
        </p:txBody>
      </p:sp>
    </p:spTree>
    <p:extLst>
      <p:ext uri="{BB962C8B-B14F-4D97-AF65-F5344CB8AC3E}">
        <p14:creationId xmlns:p14="http://schemas.microsoft.com/office/powerpoint/2010/main" val="1874103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D25DD4-0A1E-97CA-240E-D14CD2D827E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A8FD20C4-98B6-1282-8611-B32026A01F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C68F05FD-664C-E589-46CF-E5BD32E13F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D61FBD6-D78E-FC81-C8F9-D17BE80ACCB5}"/>
              </a:ext>
            </a:extLst>
          </p:cNvPr>
          <p:cNvSpPr>
            <a:spLocks noGrp="1"/>
          </p:cNvSpPr>
          <p:nvPr>
            <p:ph type="dt" sz="half" idx="10"/>
          </p:nvPr>
        </p:nvSpPr>
        <p:spPr/>
        <p:txBody>
          <a:bodyPr/>
          <a:lstStyle/>
          <a:p>
            <a:fld id="{526CD18B-69D3-4C9B-9675-AFB327D7624E}" type="datetimeFigureOut">
              <a:rPr lang="es-ES" smtClean="0"/>
              <a:t>17/02/2026</a:t>
            </a:fld>
            <a:endParaRPr lang="es-ES"/>
          </a:p>
        </p:txBody>
      </p:sp>
      <p:sp>
        <p:nvSpPr>
          <p:cNvPr id="6" name="Marcador de pie de página 5">
            <a:extLst>
              <a:ext uri="{FF2B5EF4-FFF2-40B4-BE49-F238E27FC236}">
                <a16:creationId xmlns:a16="http://schemas.microsoft.com/office/drawing/2014/main" id="{D9E70EE6-7941-46BD-5447-63E4718EE7E4}"/>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AFCB20BF-88BF-8D5D-04F4-D1302D05D4A1}"/>
              </a:ext>
            </a:extLst>
          </p:cNvPr>
          <p:cNvSpPr>
            <a:spLocks noGrp="1"/>
          </p:cNvSpPr>
          <p:nvPr>
            <p:ph type="sldNum" sz="quarter" idx="12"/>
          </p:nvPr>
        </p:nvSpPr>
        <p:spPr/>
        <p:txBody>
          <a:bodyPr/>
          <a:lstStyle/>
          <a:p>
            <a:fld id="{57A75B59-9165-44D0-BF42-425E22E58D30}" type="slidenum">
              <a:rPr lang="es-ES" smtClean="0"/>
              <a:t>‹Nº›</a:t>
            </a:fld>
            <a:endParaRPr lang="es-ES"/>
          </a:p>
        </p:txBody>
      </p:sp>
    </p:spTree>
    <p:extLst>
      <p:ext uri="{BB962C8B-B14F-4D97-AF65-F5344CB8AC3E}">
        <p14:creationId xmlns:p14="http://schemas.microsoft.com/office/powerpoint/2010/main" val="4214124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3BA054-13E2-5A46-10E4-724B4C3DDA3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1FD6B2F1-B0E8-13DD-DB11-B63F16551F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A27DEFD1-80D5-E6A8-F9C5-7FDC32666D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6F1615E-03A6-FAE3-1670-961945E7BFED}"/>
              </a:ext>
            </a:extLst>
          </p:cNvPr>
          <p:cNvSpPr>
            <a:spLocks noGrp="1"/>
          </p:cNvSpPr>
          <p:nvPr>
            <p:ph type="dt" sz="half" idx="10"/>
          </p:nvPr>
        </p:nvSpPr>
        <p:spPr/>
        <p:txBody>
          <a:bodyPr/>
          <a:lstStyle/>
          <a:p>
            <a:fld id="{526CD18B-69D3-4C9B-9675-AFB327D7624E}" type="datetimeFigureOut">
              <a:rPr lang="es-ES" smtClean="0"/>
              <a:t>17/02/2026</a:t>
            </a:fld>
            <a:endParaRPr lang="es-ES"/>
          </a:p>
        </p:txBody>
      </p:sp>
      <p:sp>
        <p:nvSpPr>
          <p:cNvPr id="6" name="Marcador de pie de página 5">
            <a:extLst>
              <a:ext uri="{FF2B5EF4-FFF2-40B4-BE49-F238E27FC236}">
                <a16:creationId xmlns:a16="http://schemas.microsoft.com/office/drawing/2014/main" id="{9EE0A61E-3B8F-0A59-91FA-DA6D60A63C44}"/>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E3D45589-EB68-A0B7-F8F6-A8E2CF8DA1A0}"/>
              </a:ext>
            </a:extLst>
          </p:cNvPr>
          <p:cNvSpPr>
            <a:spLocks noGrp="1"/>
          </p:cNvSpPr>
          <p:nvPr>
            <p:ph type="sldNum" sz="quarter" idx="12"/>
          </p:nvPr>
        </p:nvSpPr>
        <p:spPr/>
        <p:txBody>
          <a:bodyPr/>
          <a:lstStyle/>
          <a:p>
            <a:fld id="{57A75B59-9165-44D0-BF42-425E22E58D30}" type="slidenum">
              <a:rPr lang="es-ES" smtClean="0"/>
              <a:t>‹Nº›</a:t>
            </a:fld>
            <a:endParaRPr lang="es-ES"/>
          </a:p>
        </p:txBody>
      </p:sp>
    </p:spTree>
    <p:extLst>
      <p:ext uri="{BB962C8B-B14F-4D97-AF65-F5344CB8AC3E}">
        <p14:creationId xmlns:p14="http://schemas.microsoft.com/office/powerpoint/2010/main" val="2367797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42C758-C983-2985-79FB-0002A929781D}"/>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079723CF-D53B-4F64-4B24-A899DA7F1B8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F4CA16E-3601-FE10-5C41-68F3A23EF79B}"/>
              </a:ext>
            </a:extLst>
          </p:cNvPr>
          <p:cNvSpPr>
            <a:spLocks noGrp="1"/>
          </p:cNvSpPr>
          <p:nvPr>
            <p:ph type="dt" sz="half" idx="10"/>
          </p:nvPr>
        </p:nvSpPr>
        <p:spPr/>
        <p:txBody>
          <a:bodyPr/>
          <a:lstStyle/>
          <a:p>
            <a:fld id="{526CD18B-69D3-4C9B-9675-AFB327D7624E}" type="datetimeFigureOut">
              <a:rPr lang="es-ES" smtClean="0"/>
              <a:t>17/02/2026</a:t>
            </a:fld>
            <a:endParaRPr lang="es-ES"/>
          </a:p>
        </p:txBody>
      </p:sp>
      <p:sp>
        <p:nvSpPr>
          <p:cNvPr id="5" name="Marcador de pie de página 4">
            <a:extLst>
              <a:ext uri="{FF2B5EF4-FFF2-40B4-BE49-F238E27FC236}">
                <a16:creationId xmlns:a16="http://schemas.microsoft.com/office/drawing/2014/main" id="{A179872E-8222-A112-B007-92A96800936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CA648E8-1BE3-75A3-6F1D-2769CE158977}"/>
              </a:ext>
            </a:extLst>
          </p:cNvPr>
          <p:cNvSpPr>
            <a:spLocks noGrp="1"/>
          </p:cNvSpPr>
          <p:nvPr>
            <p:ph type="sldNum" sz="quarter" idx="12"/>
          </p:nvPr>
        </p:nvSpPr>
        <p:spPr/>
        <p:txBody>
          <a:bodyPr/>
          <a:lstStyle/>
          <a:p>
            <a:fld id="{57A75B59-9165-44D0-BF42-425E22E58D30}" type="slidenum">
              <a:rPr lang="es-ES" smtClean="0"/>
              <a:t>‹Nº›</a:t>
            </a:fld>
            <a:endParaRPr lang="es-ES"/>
          </a:p>
        </p:txBody>
      </p:sp>
    </p:spTree>
    <p:extLst>
      <p:ext uri="{BB962C8B-B14F-4D97-AF65-F5344CB8AC3E}">
        <p14:creationId xmlns:p14="http://schemas.microsoft.com/office/powerpoint/2010/main" val="1812058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DAD47B6-0052-A26B-D347-CE512D9E162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E08ACD63-8FD9-12AD-255F-A281765B7BB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4CEEC2C-68FF-5037-0AA4-4805BEDAB9B5}"/>
              </a:ext>
            </a:extLst>
          </p:cNvPr>
          <p:cNvSpPr>
            <a:spLocks noGrp="1"/>
          </p:cNvSpPr>
          <p:nvPr>
            <p:ph type="dt" sz="half" idx="10"/>
          </p:nvPr>
        </p:nvSpPr>
        <p:spPr/>
        <p:txBody>
          <a:bodyPr/>
          <a:lstStyle/>
          <a:p>
            <a:fld id="{526CD18B-69D3-4C9B-9675-AFB327D7624E}" type="datetimeFigureOut">
              <a:rPr lang="es-ES" smtClean="0"/>
              <a:t>17/02/2026</a:t>
            </a:fld>
            <a:endParaRPr lang="es-ES"/>
          </a:p>
        </p:txBody>
      </p:sp>
      <p:sp>
        <p:nvSpPr>
          <p:cNvPr id="5" name="Marcador de pie de página 4">
            <a:extLst>
              <a:ext uri="{FF2B5EF4-FFF2-40B4-BE49-F238E27FC236}">
                <a16:creationId xmlns:a16="http://schemas.microsoft.com/office/drawing/2014/main" id="{E2C280FD-4513-B7D0-E3C5-36878C83F61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42140A6-B917-6399-82EE-DE355045995A}"/>
              </a:ext>
            </a:extLst>
          </p:cNvPr>
          <p:cNvSpPr>
            <a:spLocks noGrp="1"/>
          </p:cNvSpPr>
          <p:nvPr>
            <p:ph type="sldNum" sz="quarter" idx="12"/>
          </p:nvPr>
        </p:nvSpPr>
        <p:spPr/>
        <p:txBody>
          <a:bodyPr/>
          <a:lstStyle/>
          <a:p>
            <a:fld id="{57A75B59-9165-44D0-BF42-425E22E58D30}" type="slidenum">
              <a:rPr lang="es-ES" smtClean="0"/>
              <a:t>‹Nº›</a:t>
            </a:fld>
            <a:endParaRPr lang="es-ES"/>
          </a:p>
        </p:txBody>
      </p:sp>
    </p:spTree>
    <p:extLst>
      <p:ext uri="{BB962C8B-B14F-4D97-AF65-F5344CB8AC3E}">
        <p14:creationId xmlns:p14="http://schemas.microsoft.com/office/powerpoint/2010/main" val="1973658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6FF02A8-CEED-F887-36ED-1F32CC91F8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FEB58852-C5EE-1EEE-052D-FA49AE7F4B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DB4C97F-3377-D31D-656C-4B82696BF6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6CD18B-69D3-4C9B-9675-AFB327D7624E}" type="datetimeFigureOut">
              <a:rPr lang="es-ES" smtClean="0"/>
              <a:t>17/02/2026</a:t>
            </a:fld>
            <a:endParaRPr lang="es-ES"/>
          </a:p>
        </p:txBody>
      </p:sp>
      <p:sp>
        <p:nvSpPr>
          <p:cNvPr id="5" name="Marcador de pie de página 4">
            <a:extLst>
              <a:ext uri="{FF2B5EF4-FFF2-40B4-BE49-F238E27FC236}">
                <a16:creationId xmlns:a16="http://schemas.microsoft.com/office/drawing/2014/main" id="{D5476FE4-9BC6-6491-94FD-C633A5A7FC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FA9FE43C-9201-80EF-3F3B-E807CC6736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A75B59-9165-44D0-BF42-425E22E58D30}" type="slidenum">
              <a:rPr lang="es-ES" smtClean="0"/>
              <a:t>‹Nº›</a:t>
            </a:fld>
            <a:endParaRPr lang="es-ES"/>
          </a:p>
        </p:txBody>
      </p:sp>
    </p:spTree>
    <p:extLst>
      <p:ext uri="{BB962C8B-B14F-4D97-AF65-F5344CB8AC3E}">
        <p14:creationId xmlns:p14="http://schemas.microsoft.com/office/powerpoint/2010/main" val="1285828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Slide Background">
            <a:extLst>
              <a:ext uri="{FF2B5EF4-FFF2-40B4-BE49-F238E27FC236}">
                <a16:creationId xmlns:a16="http://schemas.microsoft.com/office/drawing/2014/main" id="{B50D074C-5457-4294-A181-6B67F4146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5" name="Rectangle 11">
            <a:extLst>
              <a:ext uri="{FF2B5EF4-FFF2-40B4-BE49-F238E27FC236}">
                <a16:creationId xmlns:a16="http://schemas.microsoft.com/office/drawing/2014/main" id="{F489C2E0-4895-4B72-85EA-7EE9FAFFD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129836"/>
            <a:ext cx="12192000" cy="1720199"/>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750384B4-A467-7389-82D6-1BD54AD640B6}"/>
              </a:ext>
            </a:extLst>
          </p:cNvPr>
          <p:cNvSpPr>
            <a:spLocks noGrp="1"/>
          </p:cNvSpPr>
          <p:nvPr>
            <p:ph type="ctrTitle"/>
          </p:nvPr>
        </p:nvSpPr>
        <p:spPr>
          <a:xfrm>
            <a:off x="589558" y="5429992"/>
            <a:ext cx="6973355" cy="1119887"/>
          </a:xfrm>
        </p:spPr>
        <p:txBody>
          <a:bodyPr anchor="ctr">
            <a:normAutofit/>
          </a:bodyPr>
          <a:lstStyle/>
          <a:p>
            <a:pPr algn="l"/>
            <a:r>
              <a:rPr lang="es-ES" sz="2300" dirty="0"/>
              <a:t>ANÁLISIS DE UNA BASE DE DATOS DE LA NBA PARA CREAR UN CHATBOT BASADO EN ESTE CONOCIMIENTO</a:t>
            </a:r>
          </a:p>
        </p:txBody>
      </p:sp>
      <p:pic>
        <p:nvPicPr>
          <p:cNvPr id="5" name="Imagen 4" descr="Imagen que contiene Interfaz de usuario gráfica&#10;&#10;El contenido generado por IA puede ser incorrecto.">
            <a:extLst>
              <a:ext uri="{FF2B5EF4-FFF2-40B4-BE49-F238E27FC236}">
                <a16:creationId xmlns:a16="http://schemas.microsoft.com/office/drawing/2014/main" id="{1204C9FD-CCA7-BA2D-C467-302AF5B5F2BD}"/>
              </a:ext>
            </a:extLst>
          </p:cNvPr>
          <p:cNvPicPr>
            <a:picLocks noChangeAspect="1"/>
          </p:cNvPicPr>
          <p:nvPr/>
        </p:nvPicPr>
        <p:blipFill>
          <a:blip r:embed="rId3"/>
          <a:stretch>
            <a:fillRect/>
          </a:stretch>
        </p:blipFill>
        <p:spPr>
          <a:xfrm>
            <a:off x="837799" y="575094"/>
            <a:ext cx="10516009" cy="4048664"/>
          </a:xfrm>
          <a:prstGeom prst="rect">
            <a:avLst/>
          </a:prstGeom>
          <a:effectLst/>
        </p:spPr>
      </p:pic>
      <p:sp>
        <p:nvSpPr>
          <p:cNvPr id="6" name="CuadroTexto 5">
            <a:extLst>
              <a:ext uri="{FF2B5EF4-FFF2-40B4-BE49-F238E27FC236}">
                <a16:creationId xmlns:a16="http://schemas.microsoft.com/office/drawing/2014/main" id="{82014943-F538-494B-2115-8695914ADD75}"/>
              </a:ext>
            </a:extLst>
          </p:cNvPr>
          <p:cNvSpPr txBox="1"/>
          <p:nvPr/>
        </p:nvSpPr>
        <p:spPr>
          <a:xfrm>
            <a:off x="8315325" y="5629275"/>
            <a:ext cx="3714750" cy="369332"/>
          </a:xfrm>
          <a:prstGeom prst="rect">
            <a:avLst/>
          </a:prstGeom>
          <a:noFill/>
        </p:spPr>
        <p:txBody>
          <a:bodyPr wrap="square" rtlCol="0">
            <a:spAutoFit/>
          </a:bodyPr>
          <a:lstStyle/>
          <a:p>
            <a:r>
              <a:rPr lang="es-ES" dirty="0"/>
              <a:t>Alumno: Mario Esteban Fernández</a:t>
            </a:r>
          </a:p>
        </p:txBody>
      </p:sp>
    </p:spTree>
    <p:extLst>
      <p:ext uri="{BB962C8B-B14F-4D97-AF65-F5344CB8AC3E}">
        <p14:creationId xmlns:p14="http://schemas.microsoft.com/office/powerpoint/2010/main" val="751296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D2F162-35F0-C4A1-7500-5743C26E76C4}"/>
              </a:ext>
            </a:extLst>
          </p:cNvPr>
          <p:cNvSpPr>
            <a:spLocks noGrp="1"/>
          </p:cNvSpPr>
          <p:nvPr>
            <p:ph type="title"/>
          </p:nvPr>
        </p:nvSpPr>
        <p:spPr/>
        <p:txBody>
          <a:bodyPr/>
          <a:lstStyle/>
          <a:p>
            <a:r>
              <a:rPr lang="es-ES" dirty="0" err="1"/>
              <a:t>Dataset</a:t>
            </a:r>
            <a:r>
              <a:rPr lang="es-ES" dirty="0"/>
              <a:t> y Metodología</a:t>
            </a:r>
          </a:p>
        </p:txBody>
      </p:sp>
      <p:sp>
        <p:nvSpPr>
          <p:cNvPr id="3" name="Marcador de contenido 2">
            <a:extLst>
              <a:ext uri="{FF2B5EF4-FFF2-40B4-BE49-F238E27FC236}">
                <a16:creationId xmlns:a16="http://schemas.microsoft.com/office/drawing/2014/main" id="{5385E718-DF15-A05F-9A76-D31AEE48BDD0}"/>
              </a:ext>
            </a:extLst>
          </p:cNvPr>
          <p:cNvSpPr>
            <a:spLocks noGrp="1"/>
          </p:cNvSpPr>
          <p:nvPr>
            <p:ph idx="1"/>
          </p:nvPr>
        </p:nvSpPr>
        <p:spPr/>
        <p:txBody>
          <a:bodyPr>
            <a:normAutofit/>
          </a:bodyPr>
          <a:lstStyle/>
          <a:p>
            <a:r>
              <a:rPr lang="es-ES" sz="1400" b="1" dirty="0"/>
              <a:t>¿Con qué datos se ha trabajado?</a:t>
            </a:r>
          </a:p>
          <a:p>
            <a:pPr lvl="1"/>
            <a:r>
              <a:rPr lang="es-ES" sz="1400" dirty="0"/>
              <a:t>25.000+ registros de jugadores (1950–2023)</a:t>
            </a:r>
          </a:p>
          <a:p>
            <a:pPr lvl="1"/>
            <a:r>
              <a:rPr lang="es-ES" sz="1400" dirty="0"/>
              <a:t>Estadísticas de producción, eficiencia y disponibilidad</a:t>
            </a:r>
          </a:p>
          <a:p>
            <a:pPr lvl="1"/>
            <a:r>
              <a:rPr lang="es-ES" sz="1400" dirty="0"/>
              <a:t>Limpieza y normalización de variables</a:t>
            </a:r>
          </a:p>
          <a:p>
            <a:pPr lvl="1"/>
            <a:r>
              <a:rPr lang="es-ES" sz="1400" dirty="0"/>
              <a:t>Reconstrucción del país de origen mediante </a:t>
            </a:r>
            <a:r>
              <a:rPr lang="es-ES" sz="1400" i="1" dirty="0" err="1"/>
              <a:t>college</a:t>
            </a:r>
            <a:r>
              <a:rPr lang="es-ES" sz="1400" dirty="0"/>
              <a:t> + revisión manual</a:t>
            </a:r>
          </a:p>
          <a:p>
            <a:r>
              <a:rPr lang="es-ES" sz="1400" b="1" dirty="0"/>
              <a:t>¿Qué técnicas se han aplicado?</a:t>
            </a:r>
          </a:p>
          <a:p>
            <a:pPr lvl="1"/>
            <a:r>
              <a:rPr lang="es-ES" sz="1400" dirty="0"/>
              <a:t>Métricas personalizadas (eficiencia, prime)</a:t>
            </a:r>
          </a:p>
          <a:p>
            <a:pPr lvl="1"/>
            <a:r>
              <a:rPr lang="es-ES" sz="1400" dirty="0" err="1"/>
              <a:t>Random</a:t>
            </a:r>
            <a:r>
              <a:rPr lang="es-ES" sz="1400" dirty="0"/>
              <a:t> Forest para predecir MVP</a:t>
            </a:r>
          </a:p>
          <a:p>
            <a:pPr lvl="1"/>
            <a:r>
              <a:rPr lang="es-ES" sz="1400" dirty="0"/>
              <a:t>Análisis temporal (décadas, evolución histórica)</a:t>
            </a:r>
          </a:p>
        </p:txBody>
      </p:sp>
    </p:spTree>
    <p:extLst>
      <p:ext uri="{BB962C8B-B14F-4D97-AF65-F5344CB8AC3E}">
        <p14:creationId xmlns:p14="http://schemas.microsoft.com/office/powerpoint/2010/main" val="1498660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BCC8E5-6D8B-F970-DADF-261C025E0EF6}"/>
              </a:ext>
            </a:extLst>
          </p:cNvPr>
          <p:cNvSpPr>
            <a:spLocks noGrp="1"/>
          </p:cNvSpPr>
          <p:nvPr>
            <p:ph type="title"/>
          </p:nvPr>
        </p:nvSpPr>
        <p:spPr/>
        <p:txBody>
          <a:bodyPr/>
          <a:lstStyle/>
          <a:p>
            <a:r>
              <a:rPr lang="es-ES" dirty="0"/>
              <a:t>Prime y Jugadores Extranjeros</a:t>
            </a:r>
          </a:p>
        </p:txBody>
      </p:sp>
      <p:sp>
        <p:nvSpPr>
          <p:cNvPr id="3" name="Marcador de contenido 2">
            <a:extLst>
              <a:ext uri="{FF2B5EF4-FFF2-40B4-BE49-F238E27FC236}">
                <a16:creationId xmlns:a16="http://schemas.microsoft.com/office/drawing/2014/main" id="{EBA00A1D-7FAE-8E05-77BD-958160E093AD}"/>
              </a:ext>
            </a:extLst>
          </p:cNvPr>
          <p:cNvSpPr>
            <a:spLocks noGrp="1"/>
          </p:cNvSpPr>
          <p:nvPr>
            <p:ph idx="1"/>
          </p:nvPr>
        </p:nvSpPr>
        <p:spPr>
          <a:xfrm>
            <a:off x="838200" y="1825625"/>
            <a:ext cx="5724525" cy="4351338"/>
          </a:xfrm>
        </p:spPr>
        <p:txBody>
          <a:bodyPr/>
          <a:lstStyle/>
          <a:p>
            <a:r>
              <a:rPr lang="es-ES" dirty="0"/>
              <a:t>1. Identificación del Prime</a:t>
            </a:r>
          </a:p>
          <a:p>
            <a:pPr lvl="1"/>
            <a:r>
              <a:rPr lang="es-ES" dirty="0"/>
              <a:t>Problema inicial:</a:t>
            </a:r>
          </a:p>
          <a:p>
            <a:pPr lvl="2"/>
            <a:r>
              <a:rPr lang="es-ES" dirty="0"/>
              <a:t>El prime aparecía en edades &gt;40 debido a jugadores excepcionales con pocos partidos.</a:t>
            </a:r>
          </a:p>
          <a:p>
            <a:pPr lvl="1"/>
            <a:r>
              <a:rPr lang="es-ES" dirty="0"/>
              <a:t>Solución:</a:t>
            </a:r>
          </a:p>
          <a:p>
            <a:pPr lvl="2"/>
            <a:r>
              <a:rPr lang="es-ES" dirty="0"/>
              <a:t>Normalización, suavizados y penalización por disponibilidad.</a:t>
            </a:r>
          </a:p>
          <a:p>
            <a:pPr lvl="2"/>
            <a:r>
              <a:rPr lang="es-ES" b="1" dirty="0"/>
              <a:t>Resultado final:</a:t>
            </a:r>
            <a:r>
              <a:rPr lang="es-ES" dirty="0"/>
              <a:t> Prime realista centrado en 26–30 años.</a:t>
            </a:r>
          </a:p>
          <a:p>
            <a:pPr lvl="2"/>
            <a:endParaRPr lang="es-ES" dirty="0"/>
          </a:p>
          <a:p>
            <a:pPr lvl="1"/>
            <a:endParaRPr lang="es-ES" dirty="0"/>
          </a:p>
        </p:txBody>
      </p:sp>
      <p:pic>
        <p:nvPicPr>
          <p:cNvPr id="7" name="Imagen 6" descr="Gráfico, Gráfico de líneas&#10;&#10;El contenido generado por IA puede ser incorrecto.">
            <a:extLst>
              <a:ext uri="{FF2B5EF4-FFF2-40B4-BE49-F238E27FC236}">
                <a16:creationId xmlns:a16="http://schemas.microsoft.com/office/drawing/2014/main" id="{183B4070-A0CD-2F7B-FEB1-95E47C7DE74A}"/>
              </a:ext>
            </a:extLst>
          </p:cNvPr>
          <p:cNvPicPr>
            <a:picLocks noChangeAspect="1"/>
          </p:cNvPicPr>
          <p:nvPr/>
        </p:nvPicPr>
        <p:blipFill>
          <a:blip r:embed="rId3"/>
          <a:stretch>
            <a:fillRect/>
          </a:stretch>
        </p:blipFill>
        <p:spPr>
          <a:xfrm>
            <a:off x="6443118" y="1690688"/>
            <a:ext cx="5364720" cy="3967162"/>
          </a:xfrm>
          <a:prstGeom prst="rect">
            <a:avLst/>
          </a:prstGeom>
        </p:spPr>
      </p:pic>
    </p:spTree>
    <p:extLst>
      <p:ext uri="{BB962C8B-B14F-4D97-AF65-F5344CB8AC3E}">
        <p14:creationId xmlns:p14="http://schemas.microsoft.com/office/powerpoint/2010/main" val="3161631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10BDAD-B76C-DF3F-709B-D21D6ABDCF46}"/>
              </a:ext>
            </a:extLst>
          </p:cNvPr>
          <p:cNvSpPr>
            <a:spLocks noGrp="1"/>
          </p:cNvSpPr>
          <p:nvPr>
            <p:ph type="title"/>
          </p:nvPr>
        </p:nvSpPr>
        <p:spPr/>
        <p:txBody>
          <a:bodyPr/>
          <a:lstStyle/>
          <a:p>
            <a:r>
              <a:rPr lang="es-ES" dirty="0"/>
              <a:t>Prime y Jugadores Extranjeros</a:t>
            </a:r>
          </a:p>
        </p:txBody>
      </p:sp>
      <p:sp>
        <p:nvSpPr>
          <p:cNvPr id="3" name="Marcador de contenido 2">
            <a:extLst>
              <a:ext uri="{FF2B5EF4-FFF2-40B4-BE49-F238E27FC236}">
                <a16:creationId xmlns:a16="http://schemas.microsoft.com/office/drawing/2014/main" id="{7DA81138-1D3E-7EAD-5A88-77011E93102E}"/>
              </a:ext>
            </a:extLst>
          </p:cNvPr>
          <p:cNvSpPr>
            <a:spLocks noGrp="1"/>
          </p:cNvSpPr>
          <p:nvPr>
            <p:ph idx="1"/>
          </p:nvPr>
        </p:nvSpPr>
        <p:spPr>
          <a:xfrm>
            <a:off x="838200" y="1825625"/>
            <a:ext cx="5809488" cy="4351338"/>
          </a:xfrm>
        </p:spPr>
        <p:txBody>
          <a:bodyPr/>
          <a:lstStyle/>
          <a:p>
            <a:r>
              <a:rPr lang="es-ES" dirty="0"/>
              <a:t>2. Evolución e impacto de jugadores extranjeros</a:t>
            </a:r>
          </a:p>
          <a:p>
            <a:pPr lvl="1"/>
            <a:r>
              <a:rPr lang="es-ES" dirty="0"/>
              <a:t>Aumento exponencial desde los 80 hasta hoy.</a:t>
            </a:r>
          </a:p>
          <a:p>
            <a:pPr lvl="1"/>
            <a:r>
              <a:rPr lang="es-ES" dirty="0"/>
              <a:t>En las últimas décadas: eficiencia ligeramente superior a jugadores USA.</a:t>
            </a:r>
          </a:p>
          <a:p>
            <a:pPr lvl="1"/>
            <a:r>
              <a:rPr lang="es-ES" dirty="0"/>
              <a:t>MVP extranjeros (</a:t>
            </a:r>
            <a:r>
              <a:rPr lang="es-ES" dirty="0" err="1"/>
              <a:t>Giannis</a:t>
            </a:r>
            <a:r>
              <a:rPr lang="es-ES" dirty="0"/>
              <a:t>, </a:t>
            </a:r>
            <a:r>
              <a:rPr lang="es-ES" dirty="0" err="1"/>
              <a:t>Jokic</a:t>
            </a:r>
            <a:r>
              <a:rPr lang="es-ES" dirty="0"/>
              <a:t>, </a:t>
            </a:r>
            <a:r>
              <a:rPr lang="es-ES" dirty="0" err="1"/>
              <a:t>Dirk</a:t>
            </a:r>
            <a:r>
              <a:rPr lang="es-ES" dirty="0"/>
              <a:t>…) presentan métricas de élite.</a:t>
            </a:r>
          </a:p>
        </p:txBody>
      </p:sp>
      <p:pic>
        <p:nvPicPr>
          <p:cNvPr id="6" name="Imagen 5" descr="Gráfico, Gráfico de líneas&#10;&#10;El contenido generado por IA puede ser incorrecto.">
            <a:extLst>
              <a:ext uri="{FF2B5EF4-FFF2-40B4-BE49-F238E27FC236}">
                <a16:creationId xmlns:a16="http://schemas.microsoft.com/office/drawing/2014/main" id="{99117329-E88E-C103-C7D6-C71BDF7D6FB1}"/>
              </a:ext>
            </a:extLst>
          </p:cNvPr>
          <p:cNvPicPr>
            <a:picLocks noChangeAspect="1"/>
          </p:cNvPicPr>
          <p:nvPr/>
        </p:nvPicPr>
        <p:blipFill>
          <a:blip r:embed="rId3"/>
          <a:stretch>
            <a:fillRect/>
          </a:stretch>
        </p:blipFill>
        <p:spPr>
          <a:xfrm>
            <a:off x="7852874" y="108927"/>
            <a:ext cx="4052614" cy="2701742"/>
          </a:xfrm>
          <a:prstGeom prst="rect">
            <a:avLst/>
          </a:prstGeom>
        </p:spPr>
      </p:pic>
      <p:pic>
        <p:nvPicPr>
          <p:cNvPr id="8" name="Imagen 7" descr="Gráfico, Gráfico de líneas&#10;&#10;El contenido generado por IA puede ser incorrecto.">
            <a:extLst>
              <a:ext uri="{FF2B5EF4-FFF2-40B4-BE49-F238E27FC236}">
                <a16:creationId xmlns:a16="http://schemas.microsoft.com/office/drawing/2014/main" id="{5A2C4522-4A4B-E833-95F7-5AAF6469B616}"/>
              </a:ext>
            </a:extLst>
          </p:cNvPr>
          <p:cNvPicPr>
            <a:picLocks noChangeAspect="1"/>
          </p:cNvPicPr>
          <p:nvPr/>
        </p:nvPicPr>
        <p:blipFill>
          <a:blip r:embed="rId4"/>
          <a:stretch>
            <a:fillRect/>
          </a:stretch>
        </p:blipFill>
        <p:spPr>
          <a:xfrm>
            <a:off x="6285738" y="3291031"/>
            <a:ext cx="2790825" cy="2585893"/>
          </a:xfrm>
          <a:prstGeom prst="rect">
            <a:avLst/>
          </a:prstGeom>
        </p:spPr>
      </p:pic>
      <p:pic>
        <p:nvPicPr>
          <p:cNvPr id="10" name="Imagen 9" descr="Gráfico, Gráfico de líneas&#10;&#10;El contenido generado por IA puede ser incorrecto.">
            <a:extLst>
              <a:ext uri="{FF2B5EF4-FFF2-40B4-BE49-F238E27FC236}">
                <a16:creationId xmlns:a16="http://schemas.microsoft.com/office/drawing/2014/main" id="{3AC218B7-5217-D556-3F22-504258BE0BE7}"/>
              </a:ext>
            </a:extLst>
          </p:cNvPr>
          <p:cNvPicPr>
            <a:picLocks noChangeAspect="1"/>
          </p:cNvPicPr>
          <p:nvPr/>
        </p:nvPicPr>
        <p:blipFill>
          <a:blip r:embed="rId5"/>
          <a:stretch>
            <a:fillRect/>
          </a:stretch>
        </p:blipFill>
        <p:spPr>
          <a:xfrm>
            <a:off x="9195899" y="3429000"/>
            <a:ext cx="2790825" cy="2417656"/>
          </a:xfrm>
          <a:prstGeom prst="rect">
            <a:avLst/>
          </a:prstGeom>
        </p:spPr>
      </p:pic>
    </p:spTree>
    <p:extLst>
      <p:ext uri="{BB962C8B-B14F-4D97-AF65-F5344CB8AC3E}">
        <p14:creationId xmlns:p14="http://schemas.microsoft.com/office/powerpoint/2010/main" val="2013577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021374-5263-1A15-EBE2-B27F8D2D495D}"/>
              </a:ext>
            </a:extLst>
          </p:cNvPr>
          <p:cNvSpPr>
            <a:spLocks noGrp="1"/>
          </p:cNvSpPr>
          <p:nvPr>
            <p:ph type="title"/>
          </p:nvPr>
        </p:nvSpPr>
        <p:spPr>
          <a:xfrm>
            <a:off x="392638" y="263325"/>
            <a:ext cx="10515600" cy="1325563"/>
          </a:xfrm>
        </p:spPr>
        <p:txBody>
          <a:bodyPr/>
          <a:lstStyle/>
          <a:p>
            <a:r>
              <a:rPr lang="es-ES" dirty="0"/>
              <a:t>IA Predictiva (Modelo MVP)</a:t>
            </a:r>
          </a:p>
        </p:txBody>
      </p:sp>
      <p:sp>
        <p:nvSpPr>
          <p:cNvPr id="6" name="Marcador de contenido 2">
            <a:extLst>
              <a:ext uri="{FF2B5EF4-FFF2-40B4-BE49-F238E27FC236}">
                <a16:creationId xmlns:a16="http://schemas.microsoft.com/office/drawing/2014/main" id="{642039BE-63EA-ADA8-4142-CFC0502F87EA}"/>
              </a:ext>
            </a:extLst>
          </p:cNvPr>
          <p:cNvSpPr txBox="1">
            <a:spLocks/>
          </p:cNvSpPr>
          <p:nvPr/>
        </p:nvSpPr>
        <p:spPr>
          <a:xfrm>
            <a:off x="8455154" y="1727264"/>
            <a:ext cx="2746248" cy="10364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err="1"/>
              <a:t>XGBoost</a:t>
            </a:r>
            <a:endParaRPr lang="es-ES" dirty="0"/>
          </a:p>
        </p:txBody>
      </p:sp>
      <p:sp>
        <p:nvSpPr>
          <p:cNvPr id="7" name="Marcador de contenido 2">
            <a:extLst>
              <a:ext uri="{FF2B5EF4-FFF2-40B4-BE49-F238E27FC236}">
                <a16:creationId xmlns:a16="http://schemas.microsoft.com/office/drawing/2014/main" id="{5CA25457-2072-D23C-9F68-F0EF3CD93C65}"/>
              </a:ext>
            </a:extLst>
          </p:cNvPr>
          <p:cNvSpPr txBox="1">
            <a:spLocks/>
          </p:cNvSpPr>
          <p:nvPr/>
        </p:nvSpPr>
        <p:spPr>
          <a:xfrm>
            <a:off x="990600" y="1627404"/>
            <a:ext cx="2746248" cy="10364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err="1"/>
              <a:t>Random</a:t>
            </a:r>
            <a:r>
              <a:rPr lang="es-ES" dirty="0"/>
              <a:t> Forest</a:t>
            </a:r>
          </a:p>
        </p:txBody>
      </p:sp>
      <p:pic>
        <p:nvPicPr>
          <p:cNvPr id="11" name="Imagen 10" descr="Gráfico, Gráfico de líneas&#10;&#10;El contenido generado por IA puede ser incorrecto.">
            <a:extLst>
              <a:ext uri="{FF2B5EF4-FFF2-40B4-BE49-F238E27FC236}">
                <a16:creationId xmlns:a16="http://schemas.microsoft.com/office/drawing/2014/main" id="{0401FB52-B5B5-F18A-130B-2D1E70B24433}"/>
              </a:ext>
            </a:extLst>
          </p:cNvPr>
          <p:cNvPicPr>
            <a:picLocks noChangeAspect="1"/>
          </p:cNvPicPr>
          <p:nvPr/>
        </p:nvPicPr>
        <p:blipFill>
          <a:blip r:embed="rId3"/>
          <a:stretch>
            <a:fillRect/>
          </a:stretch>
        </p:blipFill>
        <p:spPr>
          <a:xfrm>
            <a:off x="392638" y="2600567"/>
            <a:ext cx="5652888" cy="3367096"/>
          </a:xfrm>
          <a:prstGeom prst="rect">
            <a:avLst/>
          </a:prstGeom>
        </p:spPr>
      </p:pic>
      <p:pic>
        <p:nvPicPr>
          <p:cNvPr id="15" name="Imagen 14" descr="Gráfico, Gráfico de líneas&#10;&#10;El contenido generado por IA puede ser incorrecto.">
            <a:extLst>
              <a:ext uri="{FF2B5EF4-FFF2-40B4-BE49-F238E27FC236}">
                <a16:creationId xmlns:a16="http://schemas.microsoft.com/office/drawing/2014/main" id="{B03C339B-FB10-3550-9ECD-794DEFE22660}"/>
              </a:ext>
            </a:extLst>
          </p:cNvPr>
          <p:cNvPicPr>
            <a:picLocks noChangeAspect="1"/>
          </p:cNvPicPr>
          <p:nvPr/>
        </p:nvPicPr>
        <p:blipFill>
          <a:blip r:embed="rId4"/>
          <a:stretch>
            <a:fillRect/>
          </a:stretch>
        </p:blipFill>
        <p:spPr>
          <a:xfrm>
            <a:off x="6177145" y="2600567"/>
            <a:ext cx="5553834" cy="3303924"/>
          </a:xfrm>
          <a:prstGeom prst="rect">
            <a:avLst/>
          </a:prstGeom>
        </p:spPr>
      </p:pic>
    </p:spTree>
    <p:extLst>
      <p:ext uri="{BB962C8B-B14F-4D97-AF65-F5344CB8AC3E}">
        <p14:creationId xmlns:p14="http://schemas.microsoft.com/office/powerpoint/2010/main" val="2073941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5323FC-2D95-F497-18B0-AE5241A27103}"/>
              </a:ext>
            </a:extLst>
          </p:cNvPr>
          <p:cNvSpPr>
            <a:spLocks noGrp="1"/>
          </p:cNvSpPr>
          <p:nvPr>
            <p:ph type="title"/>
          </p:nvPr>
        </p:nvSpPr>
        <p:spPr/>
        <p:txBody>
          <a:bodyPr/>
          <a:lstStyle/>
          <a:p>
            <a:r>
              <a:rPr lang="es-ES" dirty="0"/>
              <a:t>NBA AI </a:t>
            </a:r>
            <a:r>
              <a:rPr lang="es-ES" dirty="0" err="1"/>
              <a:t>Chatbot</a:t>
            </a:r>
            <a:endParaRPr lang="es-ES" dirty="0"/>
          </a:p>
        </p:txBody>
      </p:sp>
      <p:sp>
        <p:nvSpPr>
          <p:cNvPr id="3" name="Marcador de contenido 2">
            <a:extLst>
              <a:ext uri="{FF2B5EF4-FFF2-40B4-BE49-F238E27FC236}">
                <a16:creationId xmlns:a16="http://schemas.microsoft.com/office/drawing/2014/main" id="{2899B2CF-0384-5E15-F37E-FFDA786005E3}"/>
              </a:ext>
            </a:extLst>
          </p:cNvPr>
          <p:cNvSpPr>
            <a:spLocks noGrp="1"/>
          </p:cNvSpPr>
          <p:nvPr>
            <p:ph idx="1"/>
          </p:nvPr>
        </p:nvSpPr>
        <p:spPr/>
        <p:txBody>
          <a:bodyPr/>
          <a:lstStyle/>
          <a:p>
            <a:r>
              <a:rPr lang="es-ES" dirty="0"/>
              <a:t>Un </a:t>
            </a:r>
            <a:r>
              <a:rPr lang="es-ES" dirty="0" err="1"/>
              <a:t>chatbot</a:t>
            </a:r>
            <a:r>
              <a:rPr lang="es-ES" dirty="0"/>
              <a:t> especializado capaz de:</a:t>
            </a:r>
          </a:p>
          <a:p>
            <a:pPr lvl="1"/>
            <a:r>
              <a:rPr lang="es-ES" dirty="0"/>
              <a:t>Responder preguntas complejas sobre la NBA</a:t>
            </a:r>
          </a:p>
          <a:p>
            <a:pPr lvl="1"/>
            <a:r>
              <a:rPr lang="es-ES" dirty="0"/>
              <a:t>Generar gráficos</a:t>
            </a:r>
          </a:p>
          <a:p>
            <a:pPr lvl="1"/>
            <a:r>
              <a:rPr lang="es-ES" dirty="0"/>
              <a:t>Aplicar modelos predictivos (MVP)</a:t>
            </a:r>
          </a:p>
          <a:p>
            <a:pPr lvl="1"/>
            <a:r>
              <a:rPr lang="es-ES" dirty="0"/>
              <a:t>Calcular eficiencias, comparar jugadores, equipos o décadas</a:t>
            </a:r>
          </a:p>
          <a:p>
            <a:pPr lvl="1"/>
            <a:r>
              <a:rPr lang="es-ES" dirty="0"/>
              <a:t>Interpretar estadísticas en lenguaje natural</a:t>
            </a:r>
          </a:p>
        </p:txBody>
      </p:sp>
    </p:spTree>
    <p:extLst>
      <p:ext uri="{BB962C8B-B14F-4D97-AF65-F5344CB8AC3E}">
        <p14:creationId xmlns:p14="http://schemas.microsoft.com/office/powerpoint/2010/main" val="2649346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6DAC5D-08AC-31C5-3991-EEC6743FA1CD}"/>
              </a:ext>
            </a:extLst>
          </p:cNvPr>
          <p:cNvSpPr>
            <a:spLocks noGrp="1"/>
          </p:cNvSpPr>
          <p:nvPr>
            <p:ph type="title"/>
          </p:nvPr>
        </p:nvSpPr>
        <p:spPr/>
        <p:txBody>
          <a:bodyPr/>
          <a:lstStyle/>
          <a:p>
            <a:r>
              <a:rPr lang="es-ES" dirty="0"/>
              <a:t>Conclusión</a:t>
            </a:r>
          </a:p>
        </p:txBody>
      </p:sp>
      <p:sp>
        <p:nvSpPr>
          <p:cNvPr id="3" name="Marcador de contenido 2">
            <a:extLst>
              <a:ext uri="{FF2B5EF4-FFF2-40B4-BE49-F238E27FC236}">
                <a16:creationId xmlns:a16="http://schemas.microsoft.com/office/drawing/2014/main" id="{E4562781-C4ED-7F60-C882-CE4DED1B33D6}"/>
              </a:ext>
            </a:extLst>
          </p:cNvPr>
          <p:cNvSpPr>
            <a:spLocks noGrp="1"/>
          </p:cNvSpPr>
          <p:nvPr>
            <p:ph idx="1"/>
          </p:nvPr>
        </p:nvSpPr>
        <p:spPr>
          <a:xfrm>
            <a:off x="838200" y="1825624"/>
            <a:ext cx="10515600" cy="4492879"/>
          </a:xfrm>
        </p:spPr>
        <p:txBody>
          <a:bodyPr/>
          <a:lstStyle/>
          <a:p>
            <a:r>
              <a:rPr lang="es-ES" dirty="0"/>
              <a:t>Resultados generales</a:t>
            </a:r>
          </a:p>
          <a:p>
            <a:pPr lvl="1"/>
            <a:r>
              <a:rPr lang="es-ES" dirty="0"/>
              <a:t>Métrica de eficiencia consistente y aplicable a décadas diferentes.</a:t>
            </a:r>
          </a:p>
          <a:p>
            <a:pPr lvl="1"/>
            <a:r>
              <a:rPr lang="es-ES" dirty="0"/>
              <a:t>IA con buena capacidad predictiva.</a:t>
            </a:r>
          </a:p>
          <a:p>
            <a:pPr lvl="1"/>
            <a:r>
              <a:rPr lang="es-ES" dirty="0"/>
              <a:t>Aumento significativo del impacto extranjero.</a:t>
            </a:r>
          </a:p>
          <a:p>
            <a:pPr lvl="1"/>
            <a:r>
              <a:rPr lang="es-ES" dirty="0"/>
              <a:t>El </a:t>
            </a:r>
            <a:r>
              <a:rPr lang="es-ES" dirty="0" err="1"/>
              <a:t>chatbot</a:t>
            </a:r>
            <a:r>
              <a:rPr lang="es-ES" dirty="0"/>
              <a:t> integra todo y permite explotación real del proyecto.</a:t>
            </a:r>
          </a:p>
        </p:txBody>
      </p:sp>
    </p:spTree>
    <p:extLst>
      <p:ext uri="{BB962C8B-B14F-4D97-AF65-F5344CB8AC3E}">
        <p14:creationId xmlns:p14="http://schemas.microsoft.com/office/powerpoint/2010/main" val="165561541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1076</TotalTime>
  <Words>1135</Words>
  <Application>Microsoft Office PowerPoint</Application>
  <PresentationFormat>Panorámica</PresentationFormat>
  <Paragraphs>87</Paragraphs>
  <Slides>7</Slides>
  <Notes>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Aptos</vt:lpstr>
      <vt:lpstr>Aptos Display</vt:lpstr>
      <vt:lpstr>Arial</vt:lpstr>
      <vt:lpstr>Tema de Office</vt:lpstr>
      <vt:lpstr>ANÁLISIS DE UNA BASE DE DATOS DE LA NBA PARA CREAR UN CHATBOT BASADO EN ESTE CONOCIMIENTO</vt:lpstr>
      <vt:lpstr>Dataset y Metodología</vt:lpstr>
      <vt:lpstr>Prime y Jugadores Extranjeros</vt:lpstr>
      <vt:lpstr>Prime y Jugadores Extranjeros</vt:lpstr>
      <vt:lpstr>IA Predictiva (Modelo MVP)</vt:lpstr>
      <vt:lpstr>NBA AI Chatbot</vt:lpstr>
      <vt:lpstr>Conclusión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MARIO ESTEBAN FERNANDEZ</dc:creator>
  <cp:lastModifiedBy>MARIO ESTEBAN FERNANDEZ</cp:lastModifiedBy>
  <cp:revision>3</cp:revision>
  <dcterms:created xsi:type="dcterms:W3CDTF">2026-02-17T16:59:28Z</dcterms:created>
  <dcterms:modified xsi:type="dcterms:W3CDTF">2026-02-18T10:56:06Z</dcterms:modified>
</cp:coreProperties>
</file>